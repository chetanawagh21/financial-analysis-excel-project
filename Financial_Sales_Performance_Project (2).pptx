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1645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D3A49"/>
                </a:solidFill>
              </a:defRPr>
            </a:pPr>
            <a:r>
              <a:t>FINANCIAL SALES</a:t>
            </a:r>
          </a:p>
          <a:p>
            <a:pPr>
              <a:spcAft>
                <a:spcPts val="700"/>
              </a:spcAft>
              <a:defRPr sz="3200" b="0">
                <a:solidFill>
                  <a:srgbClr val="2D3A49"/>
                </a:solidFill>
              </a:defRPr>
            </a:pPr>
            <a:r>
              <a:t>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71800"/>
            <a:ext cx="960120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D3A49"/>
                </a:solidFill>
              </a:defRPr>
            </a:pPr>
            <a:r>
              <a:t>Excel Data Analysis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703320"/>
            <a:ext cx="978408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A49"/>
                </a:solidFill>
              </a:defRPr>
            </a:pPr>
            <a:r>
              <a:t>A portfolio project exploring sales, profit, discounts, products, countries, and business segments.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897880"/>
            <a:ext cx="100584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D3A49"/>
                </a:solidFill>
              </a:defRPr>
            </a:pPr>
            <a:r>
              <a:t>Tools: Microsoft Excel • Pivot Tables • Charts • Dashboard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878"/>
                </a:solidFill>
              </a:defRPr>
            </a:pPr>
            <a:r>
              <a:t>A summary of the supplied Financial Sample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1100">
                <a:solidFill>
                  <a:srgbClr val="556578"/>
                </a:solidFill>
              </a:defRPr>
            </a:pPr>
            <a:r>
              <a:t>TOTAL SALES</a:t>
            </a:r>
          </a:p>
          <a:p>
            <a:pPr>
              <a:defRPr sz="2200" b="1">
                <a:solidFill>
                  <a:srgbClr val="1C304A"/>
                </a:solidFill>
              </a:defRPr>
            </a:pPr>
            <a:r>
              <a:t>$118.7M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1100">
                <a:solidFill>
                  <a:srgbClr val="556578"/>
                </a:solidFill>
              </a:defRPr>
            </a:pPr>
            <a:r>
              <a:t>TOTAL PROFIT</a:t>
            </a:r>
          </a:p>
          <a:p>
            <a:pPr>
              <a:defRPr sz="2200" b="1">
                <a:solidFill>
                  <a:srgbClr val="1C304A"/>
                </a:solidFill>
              </a:defRPr>
            </a:pPr>
            <a:r>
              <a:t>$16.9M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1100">
                <a:solidFill>
                  <a:srgbClr val="556578"/>
                </a:solidFill>
              </a:defRPr>
            </a:pPr>
            <a:r>
              <a:t>GROSS SALES</a:t>
            </a:r>
          </a:p>
          <a:p>
            <a:pPr>
              <a:defRPr sz="2200" b="1">
                <a:solidFill>
                  <a:srgbClr val="1C304A"/>
                </a:solidFill>
              </a:defRPr>
            </a:pPr>
            <a:r>
              <a:t>$127.9M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1100">
                <a:solidFill>
                  <a:srgbClr val="556578"/>
                </a:solidFill>
              </a:defRPr>
            </a:pPr>
            <a:r>
              <a:t>TOTAL DISCOUNTS</a:t>
            </a:r>
          </a:p>
          <a:p>
            <a:pPr>
              <a:defRPr sz="2200" b="1">
                <a:solidFill>
                  <a:srgbClr val="1C304A"/>
                </a:solidFill>
              </a:defRPr>
            </a:pPr>
            <a:r>
              <a:t>$9.2M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657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3A49"/>
                </a:solidFill>
              </a:defRPr>
            </a:pPr>
            <a:r>
              <a:t>Dataset and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5029200" cy="20116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700 transaction rows in the Financial data sheet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6 workbook sheets: Financial data, Dashboard, and PS1–PS4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Sales period represented: 2013, 2014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Key measures: sales, profit, gross sales, discounts, COGS, and units sold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880360"/>
            <a:ext cx="3657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3A49"/>
                </a:solidFill>
              </a:defRPr>
            </a:pPr>
            <a:r>
              <a:t>Project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337560"/>
            <a:ext cx="4937760" cy="20116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Compare sales across years and countries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Identify leading products and customer segments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Review discount levels alongside sales and profit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Communicate results through concise visuals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</a:defRPr>
            </a:pPr>
            <a:r>
              <a:t>Sales Trend by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878"/>
                </a:solidFill>
              </a:defRPr>
            </a:pPr>
            <a:r>
              <a:t>Sales increased substantially from 2013 to 2014 in the supplied data</a:t>
            </a:r>
          </a:p>
        </p:txBody>
      </p:sp>
      <p:pic>
        <p:nvPicPr>
          <p:cNvPr id="4" name="Picture 3" descr="sale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766560" cy="3552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645920"/>
            <a:ext cx="329184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D3A49"/>
                </a:solidFill>
              </a:defRPr>
            </a:pPr>
            <a:r>
              <a:t>Annual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148840"/>
            <a:ext cx="3474720" cy="1371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A49"/>
                </a:solidFill>
              </a:defRPr>
            </a:pPr>
            <a:r>
              <a:t>2013: $26,415,256</a:t>
            </a:r>
          </a:p>
          <a:p>
            <a:pPr>
              <a:spcAft>
                <a:spcPts val="700"/>
              </a:spcAft>
              <a:defRPr sz="1600" b="0">
                <a:solidFill>
                  <a:srgbClr val="2D3A49"/>
                </a:solidFill>
              </a:defRPr>
            </a:pPr>
            <a:r>
              <a:t>2014: $92,311,095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886200"/>
            <a:ext cx="3474720" cy="1097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D3A49"/>
                </a:solidFill>
              </a:defRPr>
            </a:pPr>
            <a:r>
              <a:t>2014 sales were approximately 249.5% higher than 2013.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</a:defRPr>
            </a:pPr>
            <a:r>
              <a:t>Product and Country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878"/>
                </a:solidFill>
              </a:defRPr>
            </a:pPr>
            <a:r>
              <a:t>Rankings are based on total sales in the workbook</a:t>
            </a:r>
          </a:p>
        </p:txBody>
      </p:sp>
      <p:pic>
        <p:nvPicPr>
          <p:cNvPr id="4" name="Picture 3" descr="sales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69280" cy="2976372"/>
          </a:xfrm>
          <a:prstGeom prst="rect">
            <a:avLst/>
          </a:prstGeom>
        </p:spPr>
      </p:pic>
      <p:pic>
        <p:nvPicPr>
          <p:cNvPr id="5" name="Picture 4" descr="sales_by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440680" cy="28563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715000"/>
            <a:ext cx="51206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D3A49"/>
                </a:solidFill>
              </a:defRPr>
            </a:pPr>
            <a:r>
              <a:t>Top product: Paseo ($33.0M)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5715000"/>
            <a:ext cx="51206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D3A49"/>
                </a:solidFill>
              </a:defRPr>
            </a:pPr>
            <a:r>
              <a:t>Top country: United States of America ($25.0M)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</a:defRPr>
            </a:pPr>
            <a:r>
              <a:t>Sales by Business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878"/>
                </a:solidFill>
              </a:defRPr>
            </a:pPr>
            <a:r>
              <a:t>Government and Small Business account for the largest sales totals</a:t>
            </a:r>
          </a:p>
        </p:txBody>
      </p:sp>
      <p:pic>
        <p:nvPicPr>
          <p:cNvPr id="4" name="Picture 3" descr="sales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8580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600200"/>
            <a:ext cx="329184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D3A49"/>
                </a:solidFill>
              </a:defRPr>
            </a:pPr>
            <a:r>
              <a:t>Segment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057400"/>
            <a:ext cx="3657600" cy="2560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A49"/>
                </a:solidFill>
              </a:defRPr>
            </a:pPr>
            <a:r>
              <a:t>1. Government: $52.5M</a:t>
            </a:r>
          </a:p>
          <a:p>
            <a:pPr>
              <a:spcAft>
                <a:spcPts val="700"/>
              </a:spcAft>
              <a:defRPr sz="1500" b="0">
                <a:solidFill>
                  <a:srgbClr val="2D3A49"/>
                </a:solidFill>
              </a:defRPr>
            </a:pPr>
            <a:r>
              <a:t>2. Small Business: $42.4M</a:t>
            </a:r>
          </a:p>
          <a:p>
            <a:pPr>
              <a:spcAft>
                <a:spcPts val="700"/>
              </a:spcAft>
              <a:defRPr sz="1500" b="0">
                <a:solidFill>
                  <a:srgbClr val="2D3A49"/>
                </a:solidFill>
              </a:defRPr>
            </a:pPr>
            <a:r>
              <a:t>3. Enterprise: $19.6M</a:t>
            </a:r>
          </a:p>
          <a:p>
            <a:pPr>
              <a:spcAft>
                <a:spcPts val="700"/>
              </a:spcAft>
              <a:defRPr sz="1500" b="0">
                <a:solidFill>
                  <a:srgbClr val="2D3A49"/>
                </a:solidFill>
              </a:defRPr>
            </a:pPr>
            <a:r>
              <a:t>4. Midmarket: $2.4M</a:t>
            </a:r>
          </a:p>
          <a:p>
            <a:pPr>
              <a:spcAft>
                <a:spcPts val="700"/>
              </a:spcAft>
              <a:defRPr sz="1500" b="0">
                <a:solidFill>
                  <a:srgbClr val="2D3A49"/>
                </a:solidFill>
              </a:defRPr>
            </a:pPr>
            <a:r>
              <a:t>5. Channel Partners: $1.8M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4892040"/>
            <a:ext cx="34747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D3A49"/>
                </a:solidFill>
              </a:defRPr>
            </a:pPr>
            <a:r>
              <a:t>Use this view to compare segment contribution and guide follow-up analysis of profitability, discounts, and customer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</a:defRPr>
            </a:pPr>
            <a:r>
              <a:t>Key Findings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878"/>
                </a:solidFill>
              </a:defRPr>
            </a:pPr>
            <a:r>
              <a:t>Summary based on workbook totals; validate business context before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32004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D3A49"/>
                </a:solidFill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486400" cy="29260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Total sales: $118,726,350 across 700 transaction rows.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Total profit: $16,893,702; overall profit margin is approximately 14.2%.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Total discounts: $9,205,248 (about 7.2% of gross sales).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Leading product by sales: Paseo; leading country: United States of America.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Leading business segment by sales: Government.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417320"/>
            <a:ext cx="41148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D3A49"/>
                </a:solidFill>
              </a:defRPr>
            </a:pPr>
            <a: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74519"/>
            <a:ext cx="4754880" cy="3017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Add slicers for year, country, product, and segment.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Compare profit margin—not only sales—across segments and products.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Investigate negative-profit rows and high-discount transactions.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Refresh the dashboard when the source data is updated.</a:t>
            </a:r>
          </a:p>
          <a:p>
            <a:pPr>
              <a:spcAft>
                <a:spcPts val="700"/>
              </a:spcAft>
              <a:defRPr sz="1400" b="0">
                <a:solidFill>
                  <a:srgbClr val="2D3A49"/>
                </a:solidFill>
              </a:defRPr>
            </a:pPr>
            <a:r>
              <a:t>• Publish the workbook and this presentation in a GitHub portfolio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73152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D3A49"/>
                </a:solidFill>
              </a:defRPr>
            </a:pPr>
            <a:r>
              <a:t>Prepared from Project Financial Sample.xlsx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